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8" r:id="rId8"/>
    <p:sldId id="270" r:id="rId9"/>
    <p:sldId id="269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524" autoAdjust="0"/>
    <p:restoredTop sz="94660"/>
  </p:normalViewPr>
  <p:slideViewPr>
    <p:cSldViewPr snapToGrid="0">
      <p:cViewPr>
        <p:scale>
          <a:sx n="100" d="100"/>
          <a:sy n="100" d="100"/>
        </p:scale>
        <p:origin x="142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30FB8-ABCC-41C3-827E-C9D0E5130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330639-66EE-4758-B704-0A1D6C09D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B6825C-0CA0-472A-A2BD-377BD163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DA6C5C-D993-41D1-B932-63E5368F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1FAB20-5F2C-4B20-8605-AC8E3096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73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5F32E-8CD8-434B-B8B8-E0CD5830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92484-105E-4BCA-9469-849F1CD8D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4EB15-E9BE-4A43-8828-E454ADA3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5462A-B6E3-400A-8C6A-78E1113D3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98126D-3FD3-40E5-B099-EDA09AC4A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67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DCAC7-2BFD-4DE4-9877-38B1458F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EA701D-BCF2-42EA-99A1-7A5F228F3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03F533-A6F6-4ACF-A081-3D293E13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6E919F-5EB0-40D9-8C80-7045AD42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6ADEC-8F23-4434-BFEE-489824E23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87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912B1-A255-40CA-B70C-E3BC6402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978AA-8588-4F77-991B-EAC14DFD9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CB2034-7DD0-4F85-A984-EECAABA21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82745-E113-48E7-9214-E57F4F02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973824-6026-4977-A022-05336AB1C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0DB535-C8FA-42AF-B1ED-3B76EDE3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47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99226-DF33-4D9E-942B-4752C2CC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6B54A6-8E12-46BD-A43C-F540E29C2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CB5627-1118-43BC-804E-F6455E538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503F39-DD5F-4260-A28E-51977B788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DF4FE0-54BA-404B-A76C-166C29D6F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BD9FD7-1B1C-4D32-BDA2-8E62F801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237F19-74F9-4778-BF44-7354C94A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8CD755F-6FC2-43EF-9703-4A03F9A9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14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C3359-C4AF-4D8C-8B37-0C8E1613A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96D0963-5BBA-4DBF-A48C-D95870AD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C3BD29-4BDC-46EE-AC07-969C4CA8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33E45-DEEE-4953-9A2E-57DF61D3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06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92A8A9E-0C29-4874-8F03-A928EF71A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348403-8A7C-441F-9DB6-A1717E23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63E52-724D-4703-AA73-CCBE801D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55C40-B05B-4930-A996-C28DFBCB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7B629-E2D4-4FF9-A548-14288AF48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532F1E-D159-496A-896F-F6E5A1922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CABFD7-DB86-4461-8A7A-73153C45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2D7CFE-00D4-493D-AC95-06303C6D2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4F5147-0426-463E-B82A-CB7E875C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91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66B11-01D1-4AB0-9FCF-5B0241A5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8508C7A-698B-465E-B355-53FA2C5AF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8D68FA-8DF9-4F19-ABBA-672195A5A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6A476D-0FE8-4B5C-8892-D5A205BE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40F0DF-E966-4685-B626-D310CE369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5DD5CA-CDAB-4C70-BF26-E42C0F1D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29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7CFA3-085F-43DB-9B76-D91C1198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C0C4A0-D376-43D4-B9FE-DEC945E45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613E4-FED1-4286-81E6-473EBB6B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F01E54-3A42-44D1-91C7-A4DD69558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E4AE28-611D-4F6A-91F2-ADC35C7C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34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C9ABF6-3B78-4A04-8943-769B5321F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B8892F-7CD1-43C3-8EAD-BB43E123D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B5A93-E643-4236-865F-30F4478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1E1688-39C9-42C1-89E7-D36B98831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9B742-BEEC-4388-A067-038F33BE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462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E55FA2-45E9-47D1-A3FC-E1BFC0DD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7D436-51F4-442B-A417-F8F232D78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C4DBB0-9FFE-4A65-B896-6ED06730A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C03FE-C546-480F-97F9-B424EAC3AC7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482A2-5300-4F0D-AA9E-83A0996CF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A79F8-5F14-4D2E-8E71-534FFD224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D7902-EA75-4DEE-A025-D57F4C290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22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B099D4-4C6F-4D44-8C15-5C9B97ADF013}"/>
              </a:ext>
            </a:extLst>
          </p:cNvPr>
          <p:cNvSpPr/>
          <p:nvPr/>
        </p:nvSpPr>
        <p:spPr>
          <a:xfrm>
            <a:off x="4781724" y="933139"/>
            <a:ext cx="2416794" cy="48888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FB29766-5584-429F-94FB-0CC730AB2259}"/>
              </a:ext>
            </a:extLst>
          </p:cNvPr>
          <p:cNvSpPr/>
          <p:nvPr/>
        </p:nvSpPr>
        <p:spPr>
          <a:xfrm>
            <a:off x="4934999" y="1295400"/>
            <a:ext cx="2066925" cy="4409114"/>
          </a:xfrm>
          <a:prstGeom prst="roundRect">
            <a:avLst>
              <a:gd name="adj" fmla="val 699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1154F-512D-490C-B88A-12A678D77C73}"/>
              </a:ext>
            </a:extLst>
          </p:cNvPr>
          <p:cNvSpPr txBox="1"/>
          <p:nvPr/>
        </p:nvSpPr>
        <p:spPr>
          <a:xfrm>
            <a:off x="4048569" y="221192"/>
            <a:ext cx="364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Boohyun</a:t>
            </a:r>
            <a:r>
              <a:rPr lang="en-US" altLang="ko-KR" sz="1200" dirty="0"/>
              <a:t> Electric Safety Management Application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8DE12-64A1-4F48-BB47-50520B203963}"/>
              </a:ext>
            </a:extLst>
          </p:cNvPr>
          <p:cNvSpPr txBox="1"/>
          <p:nvPr/>
        </p:nvSpPr>
        <p:spPr>
          <a:xfrm>
            <a:off x="4853687" y="947626"/>
            <a:ext cx="9470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n w="9525">
                  <a:solidFill>
                    <a:schemeClr val="bg1"/>
                  </a:solidFill>
                </a:ln>
                <a:solidFill>
                  <a:schemeClr val="accent2"/>
                </a:solidFill>
                <a:latin typeface="+mj-lt"/>
                <a:ea typeface="HY견고딕" panose="02030600000101010101" pitchFamily="18" charset="-127"/>
              </a:rPr>
              <a:t>BESMA</a:t>
            </a:r>
            <a:endParaRPr lang="ko-KR" altLang="en-US" sz="1400" b="1" dirty="0">
              <a:ln w="9525">
                <a:solidFill>
                  <a:schemeClr val="bg1"/>
                </a:solidFill>
              </a:ln>
              <a:solidFill>
                <a:schemeClr val="accent2"/>
              </a:solidFill>
              <a:latin typeface="+mj-lt"/>
              <a:ea typeface="HY견고딕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EBF27-F1DA-46E1-B3CD-82B3AC6E93DC}"/>
              </a:ext>
            </a:extLst>
          </p:cNvPr>
          <p:cNvSpPr txBox="1"/>
          <p:nvPr/>
        </p:nvSpPr>
        <p:spPr>
          <a:xfrm>
            <a:off x="6286089" y="965425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2025/11/05</a:t>
            </a:r>
            <a:endParaRPr lang="ko-KR" altLang="en-US" sz="105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A8C0E8-A371-4581-BA93-944BD7794BD4}"/>
              </a:ext>
            </a:extLst>
          </p:cNvPr>
          <p:cNvSpPr/>
          <p:nvPr/>
        </p:nvSpPr>
        <p:spPr>
          <a:xfrm>
            <a:off x="5328919" y="3909426"/>
            <a:ext cx="1269473" cy="209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사고 신고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BDF0C9-C9C8-46E3-84AC-1E6737D74535}"/>
              </a:ext>
            </a:extLst>
          </p:cNvPr>
          <p:cNvSpPr/>
          <p:nvPr/>
        </p:nvSpPr>
        <p:spPr>
          <a:xfrm>
            <a:off x="5328919" y="4255997"/>
            <a:ext cx="1269473" cy="209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비상대응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7E4FC-4348-46F1-B88E-BB256A92FE9C}"/>
              </a:ext>
            </a:extLst>
          </p:cNvPr>
          <p:cNvSpPr/>
          <p:nvPr/>
        </p:nvSpPr>
        <p:spPr>
          <a:xfrm>
            <a:off x="5328919" y="4596704"/>
            <a:ext cx="1269473" cy="209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사고 신고</a:t>
            </a:r>
            <a:endParaRPr lang="en-US" altLang="ko-KR" sz="900" dirty="0">
              <a:solidFill>
                <a:schemeClr val="bg1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E28421AC-D55E-4A90-97FA-9C81EDE65AE7}"/>
              </a:ext>
            </a:extLst>
          </p:cNvPr>
          <p:cNvSpPr/>
          <p:nvPr/>
        </p:nvSpPr>
        <p:spPr>
          <a:xfrm rot="10800000">
            <a:off x="5809114" y="5286270"/>
            <a:ext cx="285750" cy="1001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BA65A42-AD3E-4EC3-B10E-90E8F2D81BB5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6593934" y="1823693"/>
            <a:ext cx="1102266" cy="86989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85E1B826-A0AB-4CC6-9A97-240E432F1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417" y="1324340"/>
            <a:ext cx="328331" cy="33380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E7680F2-392A-48DE-8594-206EAAA93946}"/>
              </a:ext>
            </a:extLst>
          </p:cNvPr>
          <p:cNvSpPr txBox="1"/>
          <p:nvPr/>
        </p:nvSpPr>
        <p:spPr>
          <a:xfrm>
            <a:off x="6152748" y="1406092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accent2"/>
                </a:solidFill>
              </a:rPr>
              <a:t>My   logout</a:t>
            </a:r>
            <a:endParaRPr lang="ko-KR" altLang="en-US" sz="800" b="1" dirty="0">
              <a:solidFill>
                <a:schemeClr val="accent2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052054E-C761-419C-8A1A-278EEB5032A0}"/>
              </a:ext>
            </a:extLst>
          </p:cNvPr>
          <p:cNvSpPr/>
          <p:nvPr/>
        </p:nvSpPr>
        <p:spPr>
          <a:xfrm>
            <a:off x="5328919" y="3563485"/>
            <a:ext cx="1269473" cy="209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위험요인 신고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1BDBDEF-A87A-4A90-84DC-6B359F62801A}"/>
              </a:ext>
            </a:extLst>
          </p:cNvPr>
          <p:cNvSpPr/>
          <p:nvPr/>
        </p:nvSpPr>
        <p:spPr>
          <a:xfrm>
            <a:off x="5319724" y="2056484"/>
            <a:ext cx="1274210" cy="127421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작업중지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CD7074-34F7-45E7-B007-CA5A7B0E35DC}"/>
              </a:ext>
            </a:extLst>
          </p:cNvPr>
          <p:cNvSpPr/>
          <p:nvPr/>
        </p:nvSpPr>
        <p:spPr>
          <a:xfrm>
            <a:off x="5328919" y="4941487"/>
            <a:ext cx="1269473" cy="2091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오늘 </a:t>
            </a:r>
            <a:r>
              <a:rPr lang="ko-KR" altLang="en-US" sz="900">
                <a:solidFill>
                  <a:schemeClr val="bg1"/>
                </a:solidFill>
              </a:rPr>
              <a:t>작업</a:t>
            </a:r>
            <a:r>
              <a:rPr lang="en-US" altLang="ko-KR" sz="900" dirty="0">
                <a:solidFill>
                  <a:schemeClr val="bg1"/>
                </a:solidFill>
              </a:rPr>
              <a:t>/</a:t>
            </a:r>
            <a:r>
              <a:rPr lang="ko-KR" altLang="en-US" sz="900" dirty="0">
                <a:solidFill>
                  <a:schemeClr val="bg1"/>
                </a:solidFill>
              </a:rPr>
              <a:t>위험요인</a:t>
            </a:r>
            <a:endParaRPr lang="en-US" altLang="ko-KR" sz="900" dirty="0">
              <a:solidFill>
                <a:schemeClr val="bg1"/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C88057E-4095-4A18-9C3F-F46006C54F61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6598392" y="4196826"/>
            <a:ext cx="1178202" cy="8492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EE51848C-B7FA-4798-AF1A-51752AB6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720" y="1386988"/>
            <a:ext cx="699976" cy="2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717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764BC5-1368-4686-B191-475774117F7D}"/>
              </a:ext>
            </a:extLst>
          </p:cNvPr>
          <p:cNvGrpSpPr/>
          <p:nvPr/>
        </p:nvGrpSpPr>
        <p:grpSpPr>
          <a:xfrm>
            <a:off x="780175" y="977343"/>
            <a:ext cx="10396757" cy="5785284"/>
            <a:chOff x="780176" y="1072716"/>
            <a:chExt cx="10068668" cy="548048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DB099D4-4C6F-4D44-8C15-5C9B97ADF013}"/>
                </a:ext>
              </a:extLst>
            </p:cNvPr>
            <p:cNvSpPr/>
            <p:nvPr/>
          </p:nvSpPr>
          <p:spPr>
            <a:xfrm>
              <a:off x="780176" y="1072716"/>
              <a:ext cx="2340528" cy="54804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DA38EDA-CA32-47AA-93C7-269D09F20A62}"/>
                </a:ext>
              </a:extLst>
            </p:cNvPr>
            <p:cNvSpPr/>
            <p:nvPr/>
          </p:nvSpPr>
          <p:spPr>
            <a:xfrm>
              <a:off x="3120704" y="1091766"/>
              <a:ext cx="7728140" cy="5444455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FB29766-5584-429F-94FB-0CC730AB2259}"/>
              </a:ext>
            </a:extLst>
          </p:cNvPr>
          <p:cNvSpPr/>
          <p:nvPr/>
        </p:nvSpPr>
        <p:spPr>
          <a:xfrm>
            <a:off x="933450" y="1258939"/>
            <a:ext cx="2066925" cy="5314950"/>
          </a:xfrm>
          <a:prstGeom prst="roundRect">
            <a:avLst>
              <a:gd name="adj" fmla="val 699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ㅁㄴㅇ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62E046-6FFE-447B-AB11-BC2025475800}"/>
              </a:ext>
            </a:extLst>
          </p:cNvPr>
          <p:cNvSpPr/>
          <p:nvPr/>
        </p:nvSpPr>
        <p:spPr>
          <a:xfrm>
            <a:off x="933450" y="3775047"/>
            <a:ext cx="2061420" cy="10989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A8C0E8-A371-4581-BA93-944BD7794BD4}"/>
              </a:ext>
            </a:extLst>
          </p:cNvPr>
          <p:cNvSpPr/>
          <p:nvPr/>
        </p:nvSpPr>
        <p:spPr>
          <a:xfrm>
            <a:off x="1015067" y="3846213"/>
            <a:ext cx="1870746" cy="366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의견청취 현황</a:t>
            </a:r>
            <a:r>
              <a:rPr lang="en-US" altLang="ko-KR" sz="1400" b="1" dirty="0">
                <a:solidFill>
                  <a:schemeClr val="tx1"/>
                </a:solidFill>
              </a:rPr>
              <a:t> / </a:t>
            </a:r>
            <a:r>
              <a:rPr lang="ko-KR" altLang="en-US" sz="1400" b="1" dirty="0">
                <a:solidFill>
                  <a:schemeClr val="tx1"/>
                </a:solidFill>
              </a:rPr>
              <a:t>개선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6FEB01C-9D03-42E2-801A-AD9A8E15E168}"/>
              </a:ext>
            </a:extLst>
          </p:cNvPr>
          <p:cNvSpPr/>
          <p:nvPr/>
        </p:nvSpPr>
        <p:spPr>
          <a:xfrm>
            <a:off x="1015068" y="4566662"/>
            <a:ext cx="1870746" cy="257175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b="1" dirty="0">
                <a:solidFill>
                  <a:schemeClr val="tx1"/>
                </a:solidFill>
              </a:rPr>
              <a:t>현장 의견청취 선정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7EBD9A9-5759-440E-AC91-CF914176E62D}"/>
              </a:ext>
            </a:extLst>
          </p:cNvPr>
          <p:cNvSpPr/>
          <p:nvPr/>
        </p:nvSpPr>
        <p:spPr>
          <a:xfrm>
            <a:off x="1015068" y="4272204"/>
            <a:ext cx="1870746" cy="257175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dirty="0">
                <a:solidFill>
                  <a:schemeClr val="tx1"/>
                </a:solidFill>
              </a:rPr>
              <a:t>기술인 의견청취 관리대장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8678C9-C8A0-48D1-B18C-603F4B24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76" y="176170"/>
            <a:ext cx="1863273" cy="660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41154F-512D-490C-B88A-12A678D77C73}"/>
              </a:ext>
            </a:extLst>
          </p:cNvPr>
          <p:cNvSpPr txBox="1"/>
          <p:nvPr/>
        </p:nvSpPr>
        <p:spPr>
          <a:xfrm>
            <a:off x="4048569" y="515678"/>
            <a:ext cx="364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Boohyun</a:t>
            </a:r>
            <a:r>
              <a:rPr lang="en-US" altLang="ko-KR" sz="1200" dirty="0"/>
              <a:t> Electric Safety Management Application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8DE12-64A1-4F48-BB47-50520B203963}"/>
              </a:ext>
            </a:extLst>
          </p:cNvPr>
          <p:cNvSpPr txBox="1"/>
          <p:nvPr/>
        </p:nvSpPr>
        <p:spPr>
          <a:xfrm>
            <a:off x="2744116" y="375216"/>
            <a:ext cx="152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BESMA</a:t>
            </a:r>
            <a:endParaRPr lang="ko-KR" altLang="en-US" sz="2400" b="1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EBF27-F1DA-46E1-B3CD-82B3AC6E93DC}"/>
              </a:ext>
            </a:extLst>
          </p:cNvPr>
          <p:cNvSpPr txBox="1"/>
          <p:nvPr/>
        </p:nvSpPr>
        <p:spPr>
          <a:xfrm>
            <a:off x="8225867" y="269686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2025</a:t>
            </a:r>
            <a:r>
              <a:rPr lang="ko-KR" altLang="en-US" sz="1100" dirty="0"/>
              <a:t>년 </a:t>
            </a:r>
            <a:r>
              <a:rPr lang="en-US" altLang="ko-KR" sz="1100" dirty="0"/>
              <a:t>11</a:t>
            </a:r>
            <a:r>
              <a:rPr lang="ko-KR" altLang="en-US" sz="1100" dirty="0"/>
              <a:t>월 </a:t>
            </a:r>
            <a:r>
              <a:rPr lang="en-US" altLang="ko-KR" sz="1100" dirty="0"/>
              <a:t>05</a:t>
            </a:r>
            <a:r>
              <a:rPr lang="ko-KR" altLang="en-US" sz="1100" dirty="0"/>
              <a:t>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BBC86-589E-4724-A591-B5D1D3B3EB36}"/>
              </a:ext>
            </a:extLst>
          </p:cNvPr>
          <p:cNvSpPr/>
          <p:nvPr/>
        </p:nvSpPr>
        <p:spPr>
          <a:xfrm>
            <a:off x="1015067" y="2409463"/>
            <a:ext cx="1870746" cy="36640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 방침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목표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33BFBC-8CAF-4C22-AC64-ED01A991D460}"/>
              </a:ext>
            </a:extLst>
          </p:cNvPr>
          <p:cNvSpPr/>
          <p:nvPr/>
        </p:nvSpPr>
        <p:spPr>
          <a:xfrm>
            <a:off x="1015067" y="2888295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예산 집행 내역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BDF0C9-C9C8-46E3-84AC-1E6737D74535}"/>
              </a:ext>
            </a:extLst>
          </p:cNvPr>
          <p:cNvSpPr/>
          <p:nvPr/>
        </p:nvSpPr>
        <p:spPr>
          <a:xfrm>
            <a:off x="1015067" y="4922231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비상대응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7E4FC-4348-46F1-B88E-BB256A92FE9C}"/>
              </a:ext>
            </a:extLst>
          </p:cNvPr>
          <p:cNvSpPr/>
          <p:nvPr/>
        </p:nvSpPr>
        <p:spPr>
          <a:xfrm>
            <a:off x="1015067" y="5399784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사고보고 </a:t>
            </a:r>
            <a:r>
              <a:rPr lang="en-US" altLang="ko-KR" sz="1400" dirty="0">
                <a:solidFill>
                  <a:schemeClr val="bg1"/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개선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95DD9F-6FCC-4BB9-A0C6-2B362EEE810D}"/>
              </a:ext>
            </a:extLst>
          </p:cNvPr>
          <p:cNvSpPr/>
          <p:nvPr/>
        </p:nvSpPr>
        <p:spPr>
          <a:xfrm>
            <a:off x="1015067" y="5877337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위험성평가 </a:t>
            </a:r>
            <a:r>
              <a:rPr lang="en-US" altLang="ko-KR" sz="1400" dirty="0">
                <a:solidFill>
                  <a:schemeClr val="bg1"/>
                </a:solidFill>
              </a:rPr>
              <a:t>D/B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6FF227-D423-464C-A131-80EE6E0A1A48}"/>
              </a:ext>
            </a:extLst>
          </p:cNvPr>
          <p:cNvSpPr/>
          <p:nvPr/>
        </p:nvSpPr>
        <p:spPr>
          <a:xfrm>
            <a:off x="1015067" y="1924382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안전보건경영매뉴얼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E28421AC-D55E-4A90-97FA-9C81EDE65AE7}"/>
              </a:ext>
            </a:extLst>
          </p:cNvPr>
          <p:cNvSpPr/>
          <p:nvPr/>
        </p:nvSpPr>
        <p:spPr>
          <a:xfrm rot="10800000">
            <a:off x="1807565" y="6359807"/>
            <a:ext cx="285750" cy="1333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BA65A42-AD3E-4EC3-B10E-90E8F2D81BB5}"/>
              </a:ext>
            </a:extLst>
          </p:cNvPr>
          <p:cNvCxnSpPr>
            <a:cxnSpLocks/>
            <a:stCxn id="32" idx="3"/>
            <a:endCxn id="10" idx="1"/>
          </p:cNvCxnSpPr>
          <p:nvPr/>
        </p:nvCxnSpPr>
        <p:spPr>
          <a:xfrm flipV="1">
            <a:off x="2885814" y="3986142"/>
            <a:ext cx="425217" cy="70910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85E1B826-A0AB-4CC6-9A97-240E432F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488" y="85647"/>
            <a:ext cx="571580" cy="58110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E7680F2-392A-48DE-8594-206EAAA93946}"/>
              </a:ext>
            </a:extLst>
          </p:cNvPr>
          <p:cNvSpPr txBox="1"/>
          <p:nvPr/>
        </p:nvSpPr>
        <p:spPr>
          <a:xfrm>
            <a:off x="10296563" y="269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My   logout</a:t>
            </a:r>
            <a:endParaRPr lang="ko-KR" altLang="en-US" sz="1000" b="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8800642-DAB0-4772-AC4A-F3012AE6F8FE}"/>
              </a:ext>
            </a:extLst>
          </p:cNvPr>
          <p:cNvSpPr/>
          <p:nvPr/>
        </p:nvSpPr>
        <p:spPr>
          <a:xfrm>
            <a:off x="1015067" y="3365848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일일안전회의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71687-E05B-461C-95C8-3F4D1EFD431C}"/>
              </a:ext>
            </a:extLst>
          </p:cNvPr>
          <p:cNvSpPr txBox="1"/>
          <p:nvPr/>
        </p:nvSpPr>
        <p:spPr>
          <a:xfrm>
            <a:off x="1060316" y="1438653"/>
            <a:ext cx="1866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현장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송도바이오로직스</a:t>
            </a:r>
            <a:endParaRPr lang="ko-KR" altLang="en-US" sz="12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0758C98-76EE-4F7D-845A-598AEA8A8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87809"/>
              </p:ext>
            </p:extLst>
          </p:nvPr>
        </p:nvGraphicFramePr>
        <p:xfrm>
          <a:off x="3311031" y="1810475"/>
          <a:ext cx="7460433" cy="4351335"/>
        </p:xfrm>
        <a:graphic>
          <a:graphicData uri="http://schemas.openxmlformats.org/drawingml/2006/table">
            <a:tbl>
              <a:tblPr/>
              <a:tblGrid>
                <a:gridCol w="422232">
                  <a:extLst>
                    <a:ext uri="{9D8B030D-6E8A-4147-A177-3AD203B41FA5}">
                      <a16:colId xmlns:a16="http://schemas.microsoft.com/office/drawing/2014/main" val="1621020976"/>
                    </a:ext>
                  </a:extLst>
                </a:gridCol>
                <a:gridCol w="2996676">
                  <a:extLst>
                    <a:ext uri="{9D8B030D-6E8A-4147-A177-3AD203B41FA5}">
                      <a16:colId xmlns:a16="http://schemas.microsoft.com/office/drawing/2014/main" val="1278303479"/>
                    </a:ext>
                  </a:extLst>
                </a:gridCol>
                <a:gridCol w="826871">
                  <a:extLst>
                    <a:ext uri="{9D8B030D-6E8A-4147-A177-3AD203B41FA5}">
                      <a16:colId xmlns:a16="http://schemas.microsoft.com/office/drawing/2014/main" val="2349742709"/>
                    </a:ext>
                  </a:extLst>
                </a:gridCol>
                <a:gridCol w="508743">
                  <a:extLst>
                    <a:ext uri="{9D8B030D-6E8A-4147-A177-3AD203B41FA5}">
                      <a16:colId xmlns:a16="http://schemas.microsoft.com/office/drawing/2014/main" val="3213299221"/>
                    </a:ext>
                  </a:extLst>
                </a:gridCol>
                <a:gridCol w="494951">
                  <a:extLst>
                    <a:ext uri="{9D8B030D-6E8A-4147-A177-3AD203B41FA5}">
                      <a16:colId xmlns:a16="http://schemas.microsoft.com/office/drawing/2014/main" val="35265174"/>
                    </a:ext>
                  </a:extLst>
                </a:gridCol>
                <a:gridCol w="461394">
                  <a:extLst>
                    <a:ext uri="{9D8B030D-6E8A-4147-A177-3AD203B41FA5}">
                      <a16:colId xmlns:a16="http://schemas.microsoft.com/office/drawing/2014/main" val="988122934"/>
                    </a:ext>
                  </a:extLst>
                </a:gridCol>
                <a:gridCol w="478173">
                  <a:extLst>
                    <a:ext uri="{9D8B030D-6E8A-4147-A177-3AD203B41FA5}">
                      <a16:colId xmlns:a16="http://schemas.microsoft.com/office/drawing/2014/main" val="3041031928"/>
                    </a:ext>
                  </a:extLst>
                </a:gridCol>
                <a:gridCol w="503339">
                  <a:extLst>
                    <a:ext uri="{9D8B030D-6E8A-4147-A177-3AD203B41FA5}">
                      <a16:colId xmlns:a16="http://schemas.microsoft.com/office/drawing/2014/main" val="1322037023"/>
                    </a:ext>
                  </a:extLst>
                </a:gridCol>
                <a:gridCol w="768054">
                  <a:extLst>
                    <a:ext uri="{9D8B030D-6E8A-4147-A177-3AD203B41FA5}">
                      <a16:colId xmlns:a16="http://schemas.microsoft.com/office/drawing/2014/main" val="927659661"/>
                    </a:ext>
                  </a:extLst>
                </a:gridCol>
              </a:tblGrid>
              <a:tr h="2521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장 명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바이오로직스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 PROVIDENCE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전기공사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ko-KR" altLang="en-US" sz="7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** </a:t>
                      </a:r>
                      <a:r>
                        <a:rPr lang="en-US" altLang="ko-KR" sz="7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평가자는 노랑색부분만 기입바랍니다</a:t>
                      </a:r>
                      <a:r>
                        <a:rPr lang="en-US" altLang="ko-KR" sz="7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75930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64" marR="5864" marT="58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64" marR="5864" marT="58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64" marR="5864" marT="58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64" marR="5864" marT="586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272366"/>
                  </a:ext>
                </a:extLst>
              </a:tr>
              <a:tr h="40463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   명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 요인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 가 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위험성인식수준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(1,3,5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구체성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명확성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(1,3,5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실현가능성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(1,3,5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점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(20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96110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김경석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 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층에서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층상부 비계위로 올라가는 계단쪽 바닥에 뿜칠한것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떨어지지 말라고 보양을 해놓았는데 그게 계단쪽은 펄럭펄럭 거려서 계단 내려갈시 발이 걸려 계단 아래로 굴러 떨어질 위험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3860644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76793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04226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유승묵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대차에서 전산 볼트가 너무 많이 나와 있어서 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라바콘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위치랑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전산 볼트 정렬을 잘해야 될 거 같습니다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099345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604640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424084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김경석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금일 오전 롯데에서 진행하는 전체 아침조회때 현장 곳곳에 설치되어 있는 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AED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위치를 공유 받았는데 사용법은 알려 주지를 않아서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..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부현에서 월 마다 진행하는 안전교육 시간에 몇개월에 한번 씩이라도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AED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사용법 교육시간을 추가해 주셨으면 합니다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4.666667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951560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879489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20400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김경석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 비계일부를 해체하고 보니</a:t>
                      </a:r>
                      <a:b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한개당 몇십키로는 나갈것 같은 굵은 배관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개가  기존에 걸려있는 배관위에 그냥 올려져 있고 언제든 미끄러져 떨어져도 이상하지 않을 상황입니다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4.666667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388348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8447371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737392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김우민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 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층에서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층 올라가는 계단 난간대가 빠졋습니다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겉으로 보면 말짱해서 기술인이 빠져 있는지 모르고 체중 실어서 난간대 잡다가 계단에서 넘어질 위험이 있습니다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동영상 촬영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565183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160509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196523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0978031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511625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37228"/>
                  </a:ext>
                </a:extLst>
              </a:tr>
              <a:tr h="17593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817934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988686"/>
                  </a:ext>
                </a:extLst>
              </a:tr>
              <a:tr h="1759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차평가자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해당시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5864" marR="5864" marT="586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01302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388505B-8024-4D8E-BB32-C9F4CA7780DE}"/>
              </a:ext>
            </a:extLst>
          </p:cNvPr>
          <p:cNvSpPr txBox="1"/>
          <p:nvPr/>
        </p:nvSpPr>
        <p:spPr>
          <a:xfrm>
            <a:off x="3922070" y="1434400"/>
            <a:ext cx="2571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기술인 의견청취 관리대장</a:t>
            </a:r>
          </a:p>
        </p:txBody>
      </p:sp>
    </p:spTree>
    <p:extLst>
      <p:ext uri="{BB962C8B-B14F-4D97-AF65-F5344CB8AC3E}">
        <p14:creationId xmlns:p14="http://schemas.microsoft.com/office/powerpoint/2010/main" val="109071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764BC5-1368-4686-B191-475774117F7D}"/>
              </a:ext>
            </a:extLst>
          </p:cNvPr>
          <p:cNvGrpSpPr/>
          <p:nvPr/>
        </p:nvGrpSpPr>
        <p:grpSpPr>
          <a:xfrm>
            <a:off x="780175" y="977343"/>
            <a:ext cx="10396757" cy="5785284"/>
            <a:chOff x="780176" y="1072716"/>
            <a:chExt cx="10068668" cy="548048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DB099D4-4C6F-4D44-8C15-5C9B97ADF013}"/>
                </a:ext>
              </a:extLst>
            </p:cNvPr>
            <p:cNvSpPr/>
            <p:nvPr/>
          </p:nvSpPr>
          <p:spPr>
            <a:xfrm>
              <a:off x="780176" y="1072716"/>
              <a:ext cx="2340528" cy="54804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DA38EDA-CA32-47AA-93C7-269D09F20A62}"/>
                </a:ext>
              </a:extLst>
            </p:cNvPr>
            <p:cNvSpPr/>
            <p:nvPr/>
          </p:nvSpPr>
          <p:spPr>
            <a:xfrm>
              <a:off x="3120704" y="1091766"/>
              <a:ext cx="7728140" cy="5444455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FB29766-5584-429F-94FB-0CC730AB2259}"/>
              </a:ext>
            </a:extLst>
          </p:cNvPr>
          <p:cNvSpPr/>
          <p:nvPr/>
        </p:nvSpPr>
        <p:spPr>
          <a:xfrm>
            <a:off x="933450" y="1295400"/>
            <a:ext cx="2066925" cy="5314950"/>
          </a:xfrm>
          <a:prstGeom prst="roundRect">
            <a:avLst>
              <a:gd name="adj" fmla="val 699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8678C9-C8A0-48D1-B18C-603F4B24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76" y="176170"/>
            <a:ext cx="1863273" cy="660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41154F-512D-490C-B88A-12A678D77C73}"/>
              </a:ext>
            </a:extLst>
          </p:cNvPr>
          <p:cNvSpPr txBox="1"/>
          <p:nvPr/>
        </p:nvSpPr>
        <p:spPr>
          <a:xfrm>
            <a:off x="4048569" y="515678"/>
            <a:ext cx="364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Boohyun</a:t>
            </a:r>
            <a:r>
              <a:rPr lang="en-US" altLang="ko-KR" sz="1200" dirty="0"/>
              <a:t> Electric Safety Management Application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8DE12-64A1-4F48-BB47-50520B203963}"/>
              </a:ext>
            </a:extLst>
          </p:cNvPr>
          <p:cNvSpPr txBox="1"/>
          <p:nvPr/>
        </p:nvSpPr>
        <p:spPr>
          <a:xfrm>
            <a:off x="2744116" y="375216"/>
            <a:ext cx="152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BESMA</a:t>
            </a:r>
            <a:endParaRPr lang="ko-KR" altLang="en-US" sz="2400" b="1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EBF27-F1DA-46E1-B3CD-82B3AC6E93DC}"/>
              </a:ext>
            </a:extLst>
          </p:cNvPr>
          <p:cNvSpPr txBox="1"/>
          <p:nvPr/>
        </p:nvSpPr>
        <p:spPr>
          <a:xfrm>
            <a:off x="8225867" y="269686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2025</a:t>
            </a:r>
            <a:r>
              <a:rPr lang="ko-KR" altLang="en-US" sz="1100" dirty="0"/>
              <a:t>년 </a:t>
            </a:r>
            <a:r>
              <a:rPr lang="en-US" altLang="ko-KR" sz="1100" dirty="0"/>
              <a:t>11</a:t>
            </a:r>
            <a:r>
              <a:rPr lang="ko-KR" altLang="en-US" sz="1100" dirty="0"/>
              <a:t>월 </a:t>
            </a:r>
            <a:r>
              <a:rPr lang="en-US" altLang="ko-KR" sz="1100" dirty="0"/>
              <a:t>05</a:t>
            </a:r>
            <a:r>
              <a:rPr lang="ko-KR" altLang="en-US" sz="1100" dirty="0"/>
              <a:t>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BBC86-589E-4724-A591-B5D1D3B3EB36}"/>
              </a:ext>
            </a:extLst>
          </p:cNvPr>
          <p:cNvSpPr/>
          <p:nvPr/>
        </p:nvSpPr>
        <p:spPr>
          <a:xfrm>
            <a:off x="1015067" y="1899943"/>
            <a:ext cx="1870746" cy="36640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 방침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목표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33BFBC-8CAF-4C22-AC64-ED01A991D460}"/>
              </a:ext>
            </a:extLst>
          </p:cNvPr>
          <p:cNvSpPr/>
          <p:nvPr/>
        </p:nvSpPr>
        <p:spPr>
          <a:xfrm>
            <a:off x="1015067" y="2378775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예산 편성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집행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AA19AD-2C58-4646-8193-7E031A21D626}"/>
              </a:ext>
            </a:extLst>
          </p:cNvPr>
          <p:cNvSpPr/>
          <p:nvPr/>
        </p:nvSpPr>
        <p:spPr>
          <a:xfrm>
            <a:off x="933450" y="3727566"/>
            <a:ext cx="2061420" cy="5777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BB841B-BC42-4D1C-8B36-FB7C88A98133}"/>
              </a:ext>
            </a:extLst>
          </p:cNvPr>
          <p:cNvSpPr/>
          <p:nvPr/>
        </p:nvSpPr>
        <p:spPr>
          <a:xfrm>
            <a:off x="1015067" y="2857608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법규등록 </a:t>
            </a:r>
            <a:r>
              <a:rPr lang="en-US" altLang="ko-KR" sz="1400" dirty="0">
                <a:solidFill>
                  <a:schemeClr val="bg1"/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점검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A8C0E8-A371-4581-BA93-944BD7794BD4}"/>
              </a:ext>
            </a:extLst>
          </p:cNvPr>
          <p:cNvSpPr/>
          <p:nvPr/>
        </p:nvSpPr>
        <p:spPr>
          <a:xfrm>
            <a:off x="1015067" y="3333757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의견청취 현황</a:t>
            </a:r>
            <a:r>
              <a:rPr lang="en-US" altLang="ko-KR" sz="1400" dirty="0">
                <a:solidFill>
                  <a:schemeClr val="bg1"/>
                </a:solidFill>
              </a:rPr>
              <a:t> / </a:t>
            </a:r>
            <a:r>
              <a:rPr lang="ko-KR" altLang="en-US" sz="1400" dirty="0">
                <a:solidFill>
                  <a:schemeClr val="bg1"/>
                </a:solidFill>
              </a:rPr>
              <a:t>개선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8F3189-8AA5-46DD-9695-C8EE308D0824}"/>
              </a:ext>
            </a:extLst>
          </p:cNvPr>
          <p:cNvSpPr/>
          <p:nvPr/>
        </p:nvSpPr>
        <p:spPr>
          <a:xfrm>
            <a:off x="1015067" y="3824321"/>
            <a:ext cx="1870746" cy="366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모니터링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BDF0C9-C9C8-46E3-84AC-1E6737D74535}"/>
              </a:ext>
            </a:extLst>
          </p:cNvPr>
          <p:cNvSpPr/>
          <p:nvPr/>
        </p:nvSpPr>
        <p:spPr>
          <a:xfrm>
            <a:off x="1015067" y="4333100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비상대응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7E4FC-4348-46F1-B88E-BB256A92FE9C}"/>
              </a:ext>
            </a:extLst>
          </p:cNvPr>
          <p:cNvSpPr/>
          <p:nvPr/>
        </p:nvSpPr>
        <p:spPr>
          <a:xfrm>
            <a:off x="1015067" y="4808364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사고보고 </a:t>
            </a:r>
            <a:r>
              <a:rPr lang="en-US" altLang="ko-KR" sz="1400" dirty="0">
                <a:solidFill>
                  <a:schemeClr val="bg1"/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개선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95DD9F-6FCC-4BB9-A0C6-2B362EEE810D}"/>
              </a:ext>
            </a:extLst>
          </p:cNvPr>
          <p:cNvSpPr/>
          <p:nvPr/>
        </p:nvSpPr>
        <p:spPr>
          <a:xfrm>
            <a:off x="1015067" y="5285917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위험성평가 </a:t>
            </a:r>
            <a:r>
              <a:rPr lang="en-US" altLang="ko-KR" sz="1400" dirty="0">
                <a:solidFill>
                  <a:schemeClr val="bg1"/>
                </a:solidFill>
              </a:rPr>
              <a:t>D/B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6FF227-D423-464C-A131-80EE6E0A1A48}"/>
              </a:ext>
            </a:extLst>
          </p:cNvPr>
          <p:cNvSpPr/>
          <p:nvPr/>
        </p:nvSpPr>
        <p:spPr>
          <a:xfrm>
            <a:off x="1015067" y="1414862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안전보건경영매뉴얼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E28421AC-D55E-4A90-97FA-9C81EDE65AE7}"/>
              </a:ext>
            </a:extLst>
          </p:cNvPr>
          <p:cNvSpPr/>
          <p:nvPr/>
        </p:nvSpPr>
        <p:spPr>
          <a:xfrm rot="10800000">
            <a:off x="1807565" y="6203659"/>
            <a:ext cx="285750" cy="1333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BA65A42-AD3E-4EC3-B10E-90E8F2D81BB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885813" y="3784583"/>
            <a:ext cx="376198" cy="2229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85E1B826-A0AB-4CC6-9A97-240E432F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488" y="85647"/>
            <a:ext cx="571580" cy="58110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E7680F2-392A-48DE-8594-206EAAA93946}"/>
              </a:ext>
            </a:extLst>
          </p:cNvPr>
          <p:cNvSpPr txBox="1"/>
          <p:nvPr/>
        </p:nvSpPr>
        <p:spPr>
          <a:xfrm>
            <a:off x="10296563" y="269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My   logout</a:t>
            </a:r>
            <a:endParaRPr lang="ko-KR" altLang="en-US" sz="1000" b="1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0447C1-F4C6-43F4-986B-2ABE25D49183}"/>
              </a:ext>
            </a:extLst>
          </p:cNvPr>
          <p:cNvSpPr/>
          <p:nvPr/>
        </p:nvSpPr>
        <p:spPr>
          <a:xfrm>
            <a:off x="1015067" y="5763470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공지사항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0F62B21-2438-45A0-B553-03D33B884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500414"/>
              </p:ext>
            </p:extLst>
          </p:nvPr>
        </p:nvGraphicFramePr>
        <p:xfrm>
          <a:off x="3262011" y="1250092"/>
          <a:ext cx="7834614" cy="5291922"/>
        </p:xfrm>
        <a:graphic>
          <a:graphicData uri="http://schemas.openxmlformats.org/drawingml/2006/table">
            <a:tbl>
              <a:tblPr/>
              <a:tblGrid>
                <a:gridCol w="205440">
                  <a:extLst>
                    <a:ext uri="{9D8B030D-6E8A-4147-A177-3AD203B41FA5}">
                      <a16:colId xmlns:a16="http://schemas.microsoft.com/office/drawing/2014/main" val="1208972360"/>
                    </a:ext>
                  </a:extLst>
                </a:gridCol>
                <a:gridCol w="425047">
                  <a:extLst>
                    <a:ext uri="{9D8B030D-6E8A-4147-A177-3AD203B41FA5}">
                      <a16:colId xmlns:a16="http://schemas.microsoft.com/office/drawing/2014/main" val="2123075099"/>
                    </a:ext>
                  </a:extLst>
                </a:gridCol>
                <a:gridCol w="1133460">
                  <a:extLst>
                    <a:ext uri="{9D8B030D-6E8A-4147-A177-3AD203B41FA5}">
                      <a16:colId xmlns:a16="http://schemas.microsoft.com/office/drawing/2014/main" val="4065379469"/>
                    </a:ext>
                  </a:extLst>
                </a:gridCol>
                <a:gridCol w="602151">
                  <a:extLst>
                    <a:ext uri="{9D8B030D-6E8A-4147-A177-3AD203B41FA5}">
                      <a16:colId xmlns:a16="http://schemas.microsoft.com/office/drawing/2014/main" val="2795533707"/>
                    </a:ext>
                  </a:extLst>
                </a:gridCol>
                <a:gridCol w="580899">
                  <a:extLst>
                    <a:ext uri="{9D8B030D-6E8A-4147-A177-3AD203B41FA5}">
                      <a16:colId xmlns:a16="http://schemas.microsoft.com/office/drawing/2014/main" val="2655024256"/>
                    </a:ext>
                  </a:extLst>
                </a:gridCol>
                <a:gridCol w="425047">
                  <a:extLst>
                    <a:ext uri="{9D8B030D-6E8A-4147-A177-3AD203B41FA5}">
                      <a16:colId xmlns:a16="http://schemas.microsoft.com/office/drawing/2014/main" val="2837831182"/>
                    </a:ext>
                  </a:extLst>
                </a:gridCol>
                <a:gridCol w="375459">
                  <a:extLst>
                    <a:ext uri="{9D8B030D-6E8A-4147-A177-3AD203B41FA5}">
                      <a16:colId xmlns:a16="http://schemas.microsoft.com/office/drawing/2014/main" val="3014437451"/>
                    </a:ext>
                  </a:extLst>
                </a:gridCol>
                <a:gridCol w="580899">
                  <a:extLst>
                    <a:ext uri="{9D8B030D-6E8A-4147-A177-3AD203B41FA5}">
                      <a16:colId xmlns:a16="http://schemas.microsoft.com/office/drawing/2014/main" val="4279454652"/>
                    </a:ext>
                  </a:extLst>
                </a:gridCol>
                <a:gridCol w="425047">
                  <a:extLst>
                    <a:ext uri="{9D8B030D-6E8A-4147-A177-3AD203B41FA5}">
                      <a16:colId xmlns:a16="http://schemas.microsoft.com/office/drawing/2014/main" val="1720219391"/>
                    </a:ext>
                  </a:extLst>
                </a:gridCol>
                <a:gridCol w="439215">
                  <a:extLst>
                    <a:ext uri="{9D8B030D-6E8A-4147-A177-3AD203B41FA5}">
                      <a16:colId xmlns:a16="http://schemas.microsoft.com/office/drawing/2014/main" val="1934137320"/>
                    </a:ext>
                  </a:extLst>
                </a:gridCol>
                <a:gridCol w="262112">
                  <a:extLst>
                    <a:ext uri="{9D8B030D-6E8A-4147-A177-3AD203B41FA5}">
                      <a16:colId xmlns:a16="http://schemas.microsoft.com/office/drawing/2014/main" val="2244979583"/>
                    </a:ext>
                  </a:extLst>
                </a:gridCol>
                <a:gridCol w="398482">
                  <a:extLst>
                    <a:ext uri="{9D8B030D-6E8A-4147-A177-3AD203B41FA5}">
                      <a16:colId xmlns:a16="http://schemas.microsoft.com/office/drawing/2014/main" val="1608963362"/>
                    </a:ext>
                  </a:extLst>
                </a:gridCol>
                <a:gridCol w="439215">
                  <a:extLst>
                    <a:ext uri="{9D8B030D-6E8A-4147-A177-3AD203B41FA5}">
                      <a16:colId xmlns:a16="http://schemas.microsoft.com/office/drawing/2014/main" val="3493848719"/>
                    </a:ext>
                  </a:extLst>
                </a:gridCol>
                <a:gridCol w="382544">
                  <a:extLst>
                    <a:ext uri="{9D8B030D-6E8A-4147-A177-3AD203B41FA5}">
                      <a16:colId xmlns:a16="http://schemas.microsoft.com/office/drawing/2014/main" val="3706076777"/>
                    </a:ext>
                  </a:extLst>
                </a:gridCol>
                <a:gridCol w="375459">
                  <a:extLst>
                    <a:ext uri="{9D8B030D-6E8A-4147-A177-3AD203B41FA5}">
                      <a16:colId xmlns:a16="http://schemas.microsoft.com/office/drawing/2014/main" val="1000676059"/>
                    </a:ext>
                  </a:extLst>
                </a:gridCol>
                <a:gridCol w="317413">
                  <a:extLst>
                    <a:ext uri="{9D8B030D-6E8A-4147-A177-3AD203B41FA5}">
                      <a16:colId xmlns:a16="http://schemas.microsoft.com/office/drawing/2014/main" val="1205765689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1580245998"/>
                    </a:ext>
                  </a:extLst>
                </a:gridCol>
              </a:tblGrid>
              <a:tr h="3598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원도급사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현장명</a:t>
                      </a:r>
                      <a:endParaRPr lang="ko-KR" altLang="en-US" sz="6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안전방침</a:t>
                      </a:r>
                      <a:r>
                        <a:rPr lang="en-US" altLang="ko-KR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세부추진계획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예산실적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안전회의일지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소통회의일지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수시위험성평가</a:t>
                      </a:r>
                      <a:endParaRPr lang="ko-KR" altLang="en-US" sz="6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월간위험성평가</a:t>
                      </a:r>
                      <a:endParaRPr lang="ko-KR" altLang="en-US" sz="6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TBM</a:t>
                      </a: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소장</a:t>
                      </a:r>
                      <a:b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관리감독자점검일지</a:t>
                      </a:r>
                      <a:endParaRPr lang="ko-KR" altLang="en-US" sz="6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안전담당</a:t>
                      </a:r>
                      <a:b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의견청취관리대장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각종</a:t>
                      </a:r>
                      <a:b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교육일지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행 </a:t>
                      </a:r>
                      <a:r>
                        <a:rPr lang="ko-KR" altLang="en-US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률</a:t>
                      </a:r>
                      <a:br>
                        <a:rPr lang="ko-KR" altLang="en-US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% )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857269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삼성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E&amp;A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안전추구건설 현장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539440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장위동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구역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8020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대우검단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623397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청라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C18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19244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청주테크노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483827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포스코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연육교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489441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건설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전도관인천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613214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검단아파트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016183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남양주덕소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697467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대림동진흥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2318686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라온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신흥동주상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71149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신세계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스타필드 청라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025964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마곡대웅제약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384318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쌍용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평택아파트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091545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쌍용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삼숭지역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50715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서희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평택화양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89766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고양장항동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551869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한양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평택브레인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57298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건설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검단신도시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39446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대구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930982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1735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006971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경산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64818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쿠팡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천안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238727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검단신도시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75556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인천효성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738776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송도롯데바이오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880747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롯데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노원백화점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837040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대광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양주옥정물류센터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64305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대광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브레인시티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362622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BYC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완주물류센터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039262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대광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대광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브럭평택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>
                          <a:solidFill>
                            <a:srgbClr val="9C0006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0436478"/>
                  </a:ext>
                </a:extLst>
              </a:tr>
              <a:tr h="1494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4552" marR="4552" marT="455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현엔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현엔화성기아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 </a:t>
                      </a:r>
                    </a:p>
                  </a:txBody>
                  <a:tcPr marL="4552" marR="4552" marT="4552" marB="0" anchor="ctr">
                    <a:lnL w="635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603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45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E7764BC5-1368-4686-B191-475774117F7D}"/>
              </a:ext>
            </a:extLst>
          </p:cNvPr>
          <p:cNvGrpSpPr/>
          <p:nvPr/>
        </p:nvGrpSpPr>
        <p:grpSpPr>
          <a:xfrm>
            <a:off x="780175" y="977343"/>
            <a:ext cx="10396757" cy="5785284"/>
            <a:chOff x="780176" y="1072716"/>
            <a:chExt cx="10068668" cy="5480484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DB099D4-4C6F-4D44-8C15-5C9B97ADF013}"/>
                </a:ext>
              </a:extLst>
            </p:cNvPr>
            <p:cNvSpPr/>
            <p:nvPr/>
          </p:nvSpPr>
          <p:spPr>
            <a:xfrm>
              <a:off x="780176" y="1072716"/>
              <a:ext cx="2340528" cy="54804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DA38EDA-CA32-47AA-93C7-269D09F20A62}"/>
                </a:ext>
              </a:extLst>
            </p:cNvPr>
            <p:cNvSpPr/>
            <p:nvPr/>
          </p:nvSpPr>
          <p:spPr>
            <a:xfrm>
              <a:off x="3120704" y="1091766"/>
              <a:ext cx="7728140" cy="5444455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FB29766-5584-429F-94FB-0CC730AB2259}"/>
              </a:ext>
            </a:extLst>
          </p:cNvPr>
          <p:cNvSpPr/>
          <p:nvPr/>
        </p:nvSpPr>
        <p:spPr>
          <a:xfrm>
            <a:off x="933450" y="1295400"/>
            <a:ext cx="2066925" cy="5314950"/>
          </a:xfrm>
          <a:prstGeom prst="roundRect">
            <a:avLst>
              <a:gd name="adj" fmla="val 699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8678C9-C8A0-48D1-B18C-603F4B24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76" y="176170"/>
            <a:ext cx="1863273" cy="6607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41154F-512D-490C-B88A-12A678D77C73}"/>
              </a:ext>
            </a:extLst>
          </p:cNvPr>
          <p:cNvSpPr txBox="1"/>
          <p:nvPr/>
        </p:nvSpPr>
        <p:spPr>
          <a:xfrm>
            <a:off x="4048569" y="515678"/>
            <a:ext cx="3647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Boohyun</a:t>
            </a:r>
            <a:r>
              <a:rPr lang="en-US" altLang="ko-KR" sz="1200" dirty="0"/>
              <a:t> Electric Safety Management Application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D8DE12-64A1-4F48-BB47-50520B203963}"/>
              </a:ext>
            </a:extLst>
          </p:cNvPr>
          <p:cNvSpPr txBox="1"/>
          <p:nvPr/>
        </p:nvSpPr>
        <p:spPr>
          <a:xfrm>
            <a:off x="2744116" y="375216"/>
            <a:ext cx="15258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BESMA</a:t>
            </a:r>
            <a:endParaRPr lang="ko-KR" altLang="en-US" sz="2400" b="1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CEBF27-F1DA-46E1-B3CD-82B3AC6E93DC}"/>
              </a:ext>
            </a:extLst>
          </p:cNvPr>
          <p:cNvSpPr txBox="1"/>
          <p:nvPr/>
        </p:nvSpPr>
        <p:spPr>
          <a:xfrm>
            <a:off x="8225867" y="269686"/>
            <a:ext cx="13227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2025</a:t>
            </a:r>
            <a:r>
              <a:rPr lang="ko-KR" altLang="en-US" sz="1100" dirty="0"/>
              <a:t>년 </a:t>
            </a:r>
            <a:r>
              <a:rPr lang="en-US" altLang="ko-KR" sz="1100" dirty="0"/>
              <a:t>11</a:t>
            </a:r>
            <a:r>
              <a:rPr lang="ko-KR" altLang="en-US" sz="1100" dirty="0"/>
              <a:t>월 </a:t>
            </a:r>
            <a:r>
              <a:rPr lang="en-US" altLang="ko-KR" sz="1100" dirty="0"/>
              <a:t>05</a:t>
            </a:r>
            <a:r>
              <a:rPr lang="ko-KR" altLang="en-US" sz="1100" dirty="0"/>
              <a:t>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ABBC86-589E-4724-A591-B5D1D3B3EB36}"/>
              </a:ext>
            </a:extLst>
          </p:cNvPr>
          <p:cNvSpPr/>
          <p:nvPr/>
        </p:nvSpPr>
        <p:spPr>
          <a:xfrm>
            <a:off x="1015067" y="1899943"/>
            <a:ext cx="1870746" cy="36640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 방침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목표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33BFBC-8CAF-4C22-AC64-ED01A991D460}"/>
              </a:ext>
            </a:extLst>
          </p:cNvPr>
          <p:cNvSpPr/>
          <p:nvPr/>
        </p:nvSpPr>
        <p:spPr>
          <a:xfrm>
            <a:off x="1015067" y="2378775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예산 편성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집행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3AA19AD-2C58-4646-8193-7E031A21D626}"/>
              </a:ext>
            </a:extLst>
          </p:cNvPr>
          <p:cNvSpPr/>
          <p:nvPr/>
        </p:nvSpPr>
        <p:spPr>
          <a:xfrm>
            <a:off x="933450" y="2806998"/>
            <a:ext cx="2061420" cy="11358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BB841B-BC42-4D1C-8B36-FB7C88A98133}"/>
              </a:ext>
            </a:extLst>
          </p:cNvPr>
          <p:cNvSpPr/>
          <p:nvPr/>
        </p:nvSpPr>
        <p:spPr>
          <a:xfrm>
            <a:off x="1015067" y="2857608"/>
            <a:ext cx="1870746" cy="3664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법규등록 </a:t>
            </a:r>
            <a:r>
              <a:rPr lang="en-US" altLang="ko-KR" sz="1400" b="1" dirty="0">
                <a:solidFill>
                  <a:schemeClr val="tx1"/>
                </a:solidFill>
              </a:rPr>
              <a:t>/ </a:t>
            </a:r>
            <a:r>
              <a:rPr lang="ko-KR" altLang="en-US" sz="1400" b="1" dirty="0">
                <a:solidFill>
                  <a:schemeClr val="tx1"/>
                </a:solidFill>
              </a:rPr>
              <a:t>점검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9A8C0E8-A371-4581-BA93-944BD7794BD4}"/>
              </a:ext>
            </a:extLst>
          </p:cNvPr>
          <p:cNvSpPr/>
          <p:nvPr/>
        </p:nvSpPr>
        <p:spPr>
          <a:xfrm>
            <a:off x="1015067" y="4023149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의견청취 현황</a:t>
            </a:r>
            <a:r>
              <a:rPr lang="en-US" altLang="ko-KR" sz="1400" dirty="0">
                <a:solidFill>
                  <a:schemeClr val="bg1"/>
                </a:solidFill>
              </a:rPr>
              <a:t> / </a:t>
            </a:r>
            <a:r>
              <a:rPr lang="ko-KR" altLang="en-US" sz="1400" dirty="0">
                <a:solidFill>
                  <a:schemeClr val="bg1"/>
                </a:solidFill>
              </a:rPr>
              <a:t>개선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88F3189-8AA5-46DD-9695-C8EE308D0824}"/>
              </a:ext>
            </a:extLst>
          </p:cNvPr>
          <p:cNvSpPr/>
          <p:nvPr/>
        </p:nvSpPr>
        <p:spPr>
          <a:xfrm>
            <a:off x="1015067" y="4500702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모니터링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BDF0C9-C9C8-46E3-84AC-1E6737D74535}"/>
              </a:ext>
            </a:extLst>
          </p:cNvPr>
          <p:cNvSpPr/>
          <p:nvPr/>
        </p:nvSpPr>
        <p:spPr>
          <a:xfrm>
            <a:off x="1015067" y="4978255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비상대응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9F7E4FC-4348-46F1-B88E-BB256A92FE9C}"/>
              </a:ext>
            </a:extLst>
          </p:cNvPr>
          <p:cNvSpPr/>
          <p:nvPr/>
        </p:nvSpPr>
        <p:spPr>
          <a:xfrm>
            <a:off x="1015067" y="5455808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사고보고 </a:t>
            </a:r>
            <a:r>
              <a:rPr lang="en-US" altLang="ko-KR" sz="1400" dirty="0">
                <a:solidFill>
                  <a:schemeClr val="bg1"/>
                </a:solidFill>
              </a:rPr>
              <a:t>/ </a:t>
            </a:r>
            <a:r>
              <a:rPr lang="ko-KR" altLang="en-US" sz="1400" dirty="0">
                <a:solidFill>
                  <a:schemeClr val="bg1"/>
                </a:solidFill>
              </a:rPr>
              <a:t>개선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95DD9F-6FCC-4BB9-A0C6-2B362EEE810D}"/>
              </a:ext>
            </a:extLst>
          </p:cNvPr>
          <p:cNvSpPr/>
          <p:nvPr/>
        </p:nvSpPr>
        <p:spPr>
          <a:xfrm>
            <a:off x="1015067" y="5933361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위험성평가 </a:t>
            </a:r>
            <a:r>
              <a:rPr lang="en-US" altLang="ko-KR" sz="1400" dirty="0">
                <a:solidFill>
                  <a:schemeClr val="bg1"/>
                </a:solidFill>
              </a:rPr>
              <a:t>D/B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96FF227-D423-464C-A131-80EE6E0A1A48}"/>
              </a:ext>
            </a:extLst>
          </p:cNvPr>
          <p:cNvSpPr/>
          <p:nvPr/>
        </p:nvSpPr>
        <p:spPr>
          <a:xfrm>
            <a:off x="1015067" y="1414862"/>
            <a:ext cx="1870746" cy="36640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안전보건경영매뉴얼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31" name="이등변 삼각형 30">
            <a:extLst>
              <a:ext uri="{FF2B5EF4-FFF2-40B4-BE49-F238E27FC236}">
                <a16:creationId xmlns:a16="http://schemas.microsoft.com/office/drawing/2014/main" id="{E28421AC-D55E-4A90-97FA-9C81EDE65AE7}"/>
              </a:ext>
            </a:extLst>
          </p:cNvPr>
          <p:cNvSpPr/>
          <p:nvPr/>
        </p:nvSpPr>
        <p:spPr>
          <a:xfrm rot="10800000">
            <a:off x="1807565" y="6359807"/>
            <a:ext cx="285750" cy="1333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6FEB01C-9D03-42E2-801A-AD9A8E15E168}"/>
              </a:ext>
            </a:extLst>
          </p:cNvPr>
          <p:cNvSpPr/>
          <p:nvPr/>
        </p:nvSpPr>
        <p:spPr>
          <a:xfrm>
            <a:off x="1244106" y="3300412"/>
            <a:ext cx="1641707" cy="257175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b="1" dirty="0">
                <a:solidFill>
                  <a:schemeClr val="tx1"/>
                </a:solidFill>
              </a:rPr>
              <a:t>법규등록부 </a:t>
            </a:r>
            <a:r>
              <a:rPr lang="ko-KR" altLang="en-US" sz="1100" b="1" dirty="0" err="1">
                <a:solidFill>
                  <a:schemeClr val="tx1"/>
                </a:solidFill>
              </a:rPr>
              <a:t>제개정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7EBD9A9-5759-440E-AC91-CF914176E62D}"/>
              </a:ext>
            </a:extLst>
          </p:cNvPr>
          <p:cNvSpPr/>
          <p:nvPr/>
        </p:nvSpPr>
        <p:spPr>
          <a:xfrm>
            <a:off x="1244106" y="3617630"/>
            <a:ext cx="1641707" cy="257175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100" dirty="0">
                <a:solidFill>
                  <a:schemeClr val="tx1"/>
                </a:solidFill>
              </a:rPr>
              <a:t>법규 점검 계획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실적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B54C1A2C-84AA-4EFA-BE4A-AF994D8804F6}"/>
              </a:ext>
            </a:extLst>
          </p:cNvPr>
          <p:cNvGraphicFramePr>
            <a:graphicFrameLocks noGrp="1"/>
          </p:cNvGraphicFramePr>
          <p:nvPr/>
        </p:nvGraphicFramePr>
        <p:xfrm>
          <a:off x="3262011" y="1377917"/>
          <a:ext cx="7849878" cy="4813330"/>
        </p:xfrm>
        <a:graphic>
          <a:graphicData uri="http://schemas.openxmlformats.org/drawingml/2006/table">
            <a:tbl>
              <a:tblPr/>
              <a:tblGrid>
                <a:gridCol w="621317">
                  <a:extLst>
                    <a:ext uri="{9D8B030D-6E8A-4147-A177-3AD203B41FA5}">
                      <a16:colId xmlns:a16="http://schemas.microsoft.com/office/drawing/2014/main" val="1548134396"/>
                    </a:ext>
                  </a:extLst>
                </a:gridCol>
                <a:gridCol w="768017">
                  <a:extLst>
                    <a:ext uri="{9D8B030D-6E8A-4147-A177-3AD203B41FA5}">
                      <a16:colId xmlns:a16="http://schemas.microsoft.com/office/drawing/2014/main" val="1361930886"/>
                    </a:ext>
                  </a:extLst>
                </a:gridCol>
                <a:gridCol w="742128">
                  <a:extLst>
                    <a:ext uri="{9D8B030D-6E8A-4147-A177-3AD203B41FA5}">
                      <a16:colId xmlns:a16="http://schemas.microsoft.com/office/drawing/2014/main" val="1997978488"/>
                    </a:ext>
                  </a:extLst>
                </a:gridCol>
                <a:gridCol w="1449739">
                  <a:extLst>
                    <a:ext uri="{9D8B030D-6E8A-4147-A177-3AD203B41FA5}">
                      <a16:colId xmlns:a16="http://schemas.microsoft.com/office/drawing/2014/main" val="1137975416"/>
                    </a:ext>
                  </a:extLst>
                </a:gridCol>
                <a:gridCol w="509135">
                  <a:extLst>
                    <a:ext uri="{9D8B030D-6E8A-4147-A177-3AD203B41FA5}">
                      <a16:colId xmlns:a16="http://schemas.microsoft.com/office/drawing/2014/main" val="1920302026"/>
                    </a:ext>
                  </a:extLst>
                </a:gridCol>
                <a:gridCol w="494752">
                  <a:extLst>
                    <a:ext uri="{9D8B030D-6E8A-4147-A177-3AD203B41FA5}">
                      <a16:colId xmlns:a16="http://schemas.microsoft.com/office/drawing/2014/main" val="2691955971"/>
                    </a:ext>
                  </a:extLst>
                </a:gridCol>
                <a:gridCol w="543653">
                  <a:extLst>
                    <a:ext uri="{9D8B030D-6E8A-4147-A177-3AD203B41FA5}">
                      <a16:colId xmlns:a16="http://schemas.microsoft.com/office/drawing/2014/main" val="43553110"/>
                    </a:ext>
                  </a:extLst>
                </a:gridCol>
                <a:gridCol w="776646">
                  <a:extLst>
                    <a:ext uri="{9D8B030D-6E8A-4147-A177-3AD203B41FA5}">
                      <a16:colId xmlns:a16="http://schemas.microsoft.com/office/drawing/2014/main" val="2972307452"/>
                    </a:ext>
                  </a:extLst>
                </a:gridCol>
                <a:gridCol w="1944491">
                  <a:extLst>
                    <a:ext uri="{9D8B030D-6E8A-4147-A177-3AD203B41FA5}">
                      <a16:colId xmlns:a16="http://schemas.microsoft.com/office/drawing/2014/main" val="1679805299"/>
                    </a:ext>
                  </a:extLst>
                </a:gridCol>
              </a:tblGrid>
              <a:tr h="321711">
                <a:tc gridSpan="9"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법규 검토 이력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183580"/>
                  </a:ext>
                </a:extLst>
              </a:tr>
              <a:tr h="2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검토일자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시행일자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법규명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법조항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이사회승인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794496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2024-12-23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2024-12-28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산업안전기준에 관한 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조동문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이동식 사다리에 대한 안전기준 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3731086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2025-06-18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2025-06-23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산업안전기준에 관한 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엄재복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관련없는 법규 삭제개정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975489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2025-07-11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2025-07-16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산업안전보건법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정상익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교육내용 추가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화재폭발사고시 대피요령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폭염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한파 대응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3873219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2025-07-11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2025-07-16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진동 관리법 추가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조동문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소음진동관리법 최초 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227900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2025-07-11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2025-07-16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건설폐기물의 재활용촉진에 관한 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정상익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건설폐기물의 재활용촉진에 관한 법 최초 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346782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2025-07-12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2025-07-17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중대재해처벌법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시행령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정상익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시행령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 세부내용 추가개정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2889336"/>
                  </a:ext>
                </a:extLst>
              </a:tr>
              <a:tr h="5268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2025-07-16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2025-07-21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산업안전보건법</a:t>
                      </a:r>
                      <a:b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산업안전기준에 관한 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엄재복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개정법령 적용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113113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2025-08-13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2025-08-18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산업안전기준에 관한 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516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정상익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및 진동에 관한 규칙추가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566185"/>
                  </a:ext>
                </a:extLst>
              </a:tr>
              <a:tr h="4289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2025.08.18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건설기계 안전기준에 관한 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정상익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 제정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375923"/>
                  </a:ext>
                </a:extLst>
              </a:tr>
              <a:tr h="3187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620" marR="8620" marT="8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441814"/>
                  </a:ext>
                </a:extLst>
              </a:tr>
            </a:tbl>
          </a:graphicData>
        </a:graphic>
      </p:graphicFrame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BA65A42-AD3E-4EC3-B10E-90E8F2D81BB5}"/>
              </a:ext>
            </a:extLst>
          </p:cNvPr>
          <p:cNvCxnSpPr>
            <a:stCxn id="32" idx="3"/>
            <a:endCxn id="38" idx="1"/>
          </p:cNvCxnSpPr>
          <p:nvPr/>
        </p:nvCxnSpPr>
        <p:spPr>
          <a:xfrm>
            <a:off x="2885813" y="3429000"/>
            <a:ext cx="376198" cy="3555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그림 42">
            <a:extLst>
              <a:ext uri="{FF2B5EF4-FFF2-40B4-BE49-F238E27FC236}">
                <a16:creationId xmlns:a16="http://schemas.microsoft.com/office/drawing/2014/main" id="{85E1B826-A0AB-4CC6-9A97-240E432F1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0488" y="85647"/>
            <a:ext cx="571580" cy="58110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E7680F2-392A-48DE-8594-206EAAA93946}"/>
              </a:ext>
            </a:extLst>
          </p:cNvPr>
          <p:cNvSpPr txBox="1"/>
          <p:nvPr/>
        </p:nvSpPr>
        <p:spPr>
          <a:xfrm>
            <a:off x="10296563" y="26968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My   logout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8418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526C7-7085-10D8-6AE5-392732EAE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DDB231A-8D33-D038-0084-2FBDC0F8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862899"/>
            <a:ext cx="2934321" cy="5253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FC4736-490A-DB43-B6E8-0CE6D93DEA09}"/>
              </a:ext>
            </a:extLst>
          </p:cNvPr>
          <p:cNvSpPr txBox="1"/>
          <p:nvPr/>
        </p:nvSpPr>
        <p:spPr>
          <a:xfrm>
            <a:off x="4188988" y="1263058"/>
            <a:ext cx="72981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[UI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흐름도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홈 화면 ➡️ 긴급 신고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작업중지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 의도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홈 화면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평상시 업무 및 비상 버튼 대기 상태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상단에 날짜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날씨 정보를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그룹핑하여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가독성 확보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긴급 신고 화면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[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작업 중지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버튼 터치 시 전환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오작동 방지를 위한 카운트다운과 함께 현장 상황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음성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즉시 녹음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전송되는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UI.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2CE97E-4DB3-16C2-CF68-469C0DD46267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C3E1D-2C4A-1087-5CFA-A192F7BD81A2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 의도 반영 및 이해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3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4E5B-43B9-ECCE-7CC1-3489DA5C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8F5BB8E-6A03-6D1F-6E21-FE3FB0039092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8F07E0-4AFD-8973-AAEF-22265086D6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5" t="49704" r="53344" b="12"/>
          <a:stretch>
            <a:fillRect/>
          </a:stretch>
        </p:blipFill>
        <p:spPr>
          <a:xfrm>
            <a:off x="963385" y="1142150"/>
            <a:ext cx="2228850" cy="4470436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00EBBF-0772-F0D3-0B44-F948783B7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34349"/>
              </p:ext>
            </p:extLst>
          </p:nvPr>
        </p:nvGraphicFramePr>
        <p:xfrm>
          <a:off x="3599553" y="1197740"/>
          <a:ext cx="7944747" cy="4351947"/>
        </p:xfrm>
        <a:graphic>
          <a:graphicData uri="http://schemas.openxmlformats.org/drawingml/2006/table">
            <a:tbl>
              <a:tblPr/>
              <a:tblGrid>
                <a:gridCol w="1552111">
                  <a:extLst>
                    <a:ext uri="{9D8B030D-6E8A-4147-A177-3AD203B41FA5}">
                      <a16:colId xmlns:a16="http://schemas.microsoft.com/office/drawing/2014/main" val="1191828355"/>
                    </a:ext>
                  </a:extLst>
                </a:gridCol>
                <a:gridCol w="1330779">
                  <a:extLst>
                    <a:ext uri="{9D8B030D-6E8A-4147-A177-3AD203B41FA5}">
                      <a16:colId xmlns:a16="http://schemas.microsoft.com/office/drawing/2014/main" val="977695311"/>
                    </a:ext>
                  </a:extLst>
                </a:gridCol>
                <a:gridCol w="5061857">
                  <a:extLst>
                    <a:ext uri="{9D8B030D-6E8A-4147-A177-3AD203B41FA5}">
                      <a16:colId xmlns:a16="http://schemas.microsoft.com/office/drawing/2014/main" val="2846957968"/>
                    </a:ext>
                  </a:extLst>
                </a:gridCol>
              </a:tblGrid>
              <a:tr h="21925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UI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요소 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 설명 및 인터랙션</a:t>
                      </a:r>
                      <a:endParaRPr lang="ko-KR" altLang="en-US" sz="1000" dirty="0"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136166"/>
                  </a:ext>
                </a:extLst>
              </a:tr>
              <a:tr h="11299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Zone 1: </a:t>
                      </a:r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 </a:t>
                      </a:r>
                      <a:r>
                        <a:rPr lang="en-US" altLang="ko-KR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RED)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중지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STOP)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최상단 압도적 크기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30%+)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적색 배경</a:t>
                      </a:r>
                    </a:p>
                    <a:p>
                      <a:pPr rtl="0">
                        <a:buNone/>
                      </a:pP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시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안전정보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비상대응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작업중지 실행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화면으로 즉시 전환</a:t>
                      </a: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274329"/>
                  </a:ext>
                </a:extLst>
              </a:tr>
              <a:tr h="8264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Zone 2: </a:t>
                      </a:r>
                      <a:r>
                        <a:rPr lang="ko-KR" alt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 </a:t>
                      </a:r>
                      <a:r>
                        <a:rPr lang="en-US" altLang="ko-KR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Yellow)</a:t>
                      </a:r>
                      <a:endParaRPr lang="en-US" sz="10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위험요인 신고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아이콘 강조</a:t>
                      </a:r>
                    </a:p>
                    <a:p>
                      <a:pPr rtl="0">
                        <a:buNone/>
                      </a:pP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시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안전정보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위험요인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 작성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카메라 모드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진입</a:t>
                      </a: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728072"/>
                  </a:ext>
                </a:extLst>
              </a:tr>
              <a:tr h="826417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사고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앰뷸런스 아이콘</a:t>
                      </a:r>
                    </a:p>
                    <a:p>
                      <a:pPr rtl="0">
                        <a:buNone/>
                      </a:pPr>
                      <a:b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10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시 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안전정보 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비상대응 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사고신고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매뉴얼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진입</a:t>
                      </a: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42435"/>
                  </a:ext>
                </a:extLst>
              </a:tr>
              <a:tr h="97820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Zone 3: </a:t>
                      </a: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 </a:t>
                      </a:r>
                      <a:r>
                        <a:rPr lang="en-US" altLang="ko-KR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White)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금일 작업 카드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작업명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위치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위험요인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태그</a:t>
                      </a: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요약 표시</a:t>
                      </a:r>
                    </a:p>
                    <a:p>
                      <a:pPr rtl="0">
                        <a:buNone/>
                      </a:pPr>
                      <a:b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</a:b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rtl="0">
                        <a:buNone/>
                      </a:pPr>
                      <a:r>
                        <a:rPr lang="en-US" altLang="ko-KR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시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작업관리 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금일 작업 확인</a:t>
                      </a:r>
                      <a:r>
                        <a:rPr lang="en-US" altLang="ko-KR" sz="100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상세 이동</a:t>
                      </a: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840393"/>
                  </a:ext>
                </a:extLst>
              </a:tr>
              <a:tr h="371044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0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 티커</a:t>
                      </a:r>
                      <a:endParaRPr lang="ko-KR" altLang="en-US" sz="10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• 1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줄 롤링 배너</a:t>
                      </a:r>
                      <a:r>
                        <a:rPr lang="en-US" altLang="ko-KR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터치 시 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안전정보 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&gt; </a:t>
                      </a:r>
                      <a:r>
                        <a:rPr lang="ko-KR" altLang="en-US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  <a:r>
                        <a:rPr lang="en-US" altLang="ko-KR" sz="1000" dirty="0">
                          <a:solidFill>
                            <a:srgbClr val="444746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  <a:r>
                        <a:rPr lang="ko-KR" altLang="en-US" sz="10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이동</a:t>
                      </a:r>
                    </a:p>
                  </a:txBody>
                  <a:tcPr marL="50597" marR="50597" marT="33731" marB="337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28049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021C9B-CFE8-55D6-51C6-4BEB5E12A626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모바일 화면 예시 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615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40C528-1FFE-7160-6144-499A6118E57E}"/>
              </a:ext>
            </a:extLst>
          </p:cNvPr>
          <p:cNvSpPr txBox="1"/>
          <p:nvPr/>
        </p:nvSpPr>
        <p:spPr>
          <a:xfrm>
            <a:off x="742949" y="4536489"/>
            <a:ext cx="47053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위로 갈수록 권한 증가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아래 역할 메뉴는 모두 상위 역할에게 상속됨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특정 민감 기능은 상속 제외 가능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사고보고 승인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DA94D-C42B-6DC8-5C40-3EB8B3E104F4}"/>
              </a:ext>
            </a:extLst>
          </p:cNvPr>
          <p:cNvSpPr txBox="1"/>
          <p:nvPr/>
        </p:nvSpPr>
        <p:spPr>
          <a:xfrm>
            <a:off x="6172200" y="1684449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💡 구조의 핵심 요약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(Key Logic)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64E1E4-2EEF-4969-FEA8-6DAD97EFD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1450389"/>
            <a:ext cx="5076825" cy="2835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9E592C-D2DC-E3DE-8FA6-9A72C1AD37F5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E9E44-BE70-E1C3-0253-E910E8F6D885}"/>
              </a:ext>
            </a:extLst>
          </p:cNvPr>
          <p:cNvSpPr txBox="1"/>
          <p:nvPr/>
        </p:nvSpPr>
        <p:spPr>
          <a:xfrm>
            <a:off x="6172200" y="2243167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⬇️ 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하향식 통제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(Downward Control):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본사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현장의 모든 데이터를 열람하고 수정할 수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감사 기능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현장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기능인의 작업 결과를 승인하거나 반려하여 품질을 통제합니다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AF73E-00A2-8D24-481C-7C117B9E3111}"/>
              </a:ext>
            </a:extLst>
          </p:cNvPr>
          <p:cNvSpPr txBox="1"/>
          <p:nvPr/>
        </p:nvSpPr>
        <p:spPr>
          <a:xfrm>
            <a:off x="6172200" y="3128558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 startAt="2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⬆️ 상향식 보고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(Upward Reporting):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기능인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데이터를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'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할 수 있으며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승인 권한은 없습니다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현장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데이터를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가공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하여 본사에 결재를 올립니다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A4EA5E-2093-1F91-566A-52C6ED329C5F}"/>
              </a:ext>
            </a:extLst>
          </p:cNvPr>
          <p:cNvSpPr txBox="1"/>
          <p:nvPr/>
        </p:nvSpPr>
        <p:spPr>
          <a:xfrm>
            <a:off x="6172200" y="4148941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 startAt="3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🧱 데이터 </a:t>
            </a:r>
            <a:r>
              <a:rPr lang="ko-KR" altLang="en-US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격벽</a:t>
            </a: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(Data Isolation):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기능인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옆 동료의 정보나 다른 현장의 정보를 볼 수 없습니다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철저한 개인화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현장 관리자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다른 현장의 상세 데이터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민감정보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접근할 수 없습니다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2BC65-7B45-0F93-393C-23243E3FE754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rPr>
              <a:t>권한 및 구조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29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0FFF88-208F-B591-2550-1C535C861FBD}"/>
              </a:ext>
            </a:extLst>
          </p:cNvPr>
          <p:cNvSpPr txBox="1"/>
          <p:nvPr/>
        </p:nvSpPr>
        <p:spPr>
          <a:xfrm>
            <a:off x="5737692" y="975807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👑 본사 관리자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Supreme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Controller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: "시스템의 슈퍼관리자"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: [권한 범위: 전사(All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Sites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+ 시스템 전체]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├── 🌐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1. 시스템 통제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God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Mode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 ├── 🛠️ 기준 정보 관리 (위험성평가 DB, 등급 산정 로직 제정)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 ├── 👤 인사/계정 관리 (현장소장 계정 생성, 권한 부여, 블랙리스트)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 └── 📊 전사 통합 관제 (GIS 대시보드, 전사 KPI 모니터링)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├── 📑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최종 의사결정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Approver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 ├── 💰 예산 집행 최종 승인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   └── 🚨 사고 보고서 최종 결재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└── 🏗️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현장 관리자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Site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Commander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: "해당 구역(현장)의 전권 대리인"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: [권한 범위: 소속 현장(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Specific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Site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Only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├── 🏢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현장 운영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Site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Ops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 ├── 📝 작업 지시 확정 (ERP 연동) &amp; 작업 완료 승인/반려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 ├── 📂 법적 서류 관리 &amp; 안전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점검표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작성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 └── 📢 현장 공지사항 전파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├── 🛡️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위험 관리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Risk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Mgmt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 ├── ⚡ 위험요인 신고 접수 &amp; 조치 결과 등록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   └── 🛑 작업 중지 해제 승인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└── 👷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기능인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Action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  : "최전선의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실행가이자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정보 제공자"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  : [권한 범위: 본인(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Self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데이터 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Only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├──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🔨 1. 임무 수행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Task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   ├── 📸 작업 완료 보고 (사진/내용 입력)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   └── 📅 내 작업 이력 조회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│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└── 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🚨 2. 안전 활동 (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Safety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Action</a:t>
            </a:r>
            <a:r>
              <a:rPr lang="ko-KR" altLang="en-US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├── 📸 위험요인 신고 (입력)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├── ✋ 작업 중지 발동 (</a:t>
            </a:r>
            <a:r>
              <a:rPr lang="ko-KR" altLang="en-US" sz="9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Action</a:t>
            </a:r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└── 👤 내 정보/등급 조회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4C3813-5C83-900D-B39B-A746E229FB57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권한 및 구조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BA86A-05DC-D798-8068-2FC857D2A608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732C1F3-86D2-3279-328B-90BEC9F1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08" y="2895600"/>
            <a:ext cx="3737441" cy="20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9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8E4270F-14BF-60FD-D9CC-E92F18EA7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95998"/>
              </p:ext>
            </p:extLst>
          </p:nvPr>
        </p:nvGraphicFramePr>
        <p:xfrm>
          <a:off x="2143125" y="1074740"/>
          <a:ext cx="8477252" cy="5118581"/>
        </p:xfrm>
        <a:graphic>
          <a:graphicData uri="http://schemas.openxmlformats.org/drawingml/2006/table">
            <a:tbl>
              <a:tblPr/>
              <a:tblGrid>
                <a:gridCol w="1211036">
                  <a:extLst>
                    <a:ext uri="{9D8B030D-6E8A-4147-A177-3AD203B41FA5}">
                      <a16:colId xmlns:a16="http://schemas.microsoft.com/office/drawing/2014/main" val="2180505668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58381578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866798686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1614489956"/>
                    </a:ext>
                  </a:extLst>
                </a:gridCol>
                <a:gridCol w="1211036">
                  <a:extLst>
                    <a:ext uri="{9D8B030D-6E8A-4147-A177-3AD203B41FA5}">
                      <a16:colId xmlns:a16="http://schemas.microsoft.com/office/drawing/2014/main" val="592420347"/>
                    </a:ext>
                  </a:extLst>
                </a:gridCol>
                <a:gridCol w="1536245">
                  <a:extLst>
                    <a:ext uri="{9D8B030D-6E8A-4147-A177-3AD203B41FA5}">
                      <a16:colId xmlns:a16="http://schemas.microsoft.com/office/drawing/2014/main" val="3857946160"/>
                    </a:ext>
                  </a:extLst>
                </a:gridCol>
                <a:gridCol w="885827">
                  <a:extLst>
                    <a:ext uri="{9D8B030D-6E8A-4147-A177-3AD203B41FA5}">
                      <a16:colId xmlns:a16="http://schemas.microsoft.com/office/drawing/2014/main" val="1325267387"/>
                    </a:ext>
                  </a:extLst>
                </a:gridCol>
              </a:tblGrid>
              <a:tr h="3780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구분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대기능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상세 기능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기능인 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Worker)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관리자 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Site Admin)</a:t>
                      </a:r>
                      <a:endParaRPr 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🏢 본사 관리자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(HQ Admin)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162307"/>
                  </a:ext>
                </a:extLst>
              </a:tr>
              <a:tr h="16781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계정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소셜 로그인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접근성 강화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768355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ID/PW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로그인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관리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19996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권한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계정 생성</a:t>
                      </a:r>
                      <a:r>
                        <a:rPr lang="en-US" altLang="ko-KR" sz="8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요청만 가능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승인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생성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본사 통제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635126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메뉴 접근 제어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전사 설정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2543298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대시보드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현황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메인 대시보드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나의 현황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소속 현장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전사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개별 현장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GIS/KPI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157205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미결 업무 알림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나의 할일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</a:t>
                      </a: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To-Do)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전사 결재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이슈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250945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지시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지시서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나의 작업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배정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전체 수정 가능</a:t>
                      </a:r>
                      <a:r>
                        <a:rPr lang="en-US" altLang="ko-KR" sz="800" b="1" dirty="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ERP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연동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182386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수행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완료 보고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입력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제출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🔵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반려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모니터링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184387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과거 이력 조회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이력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전체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전사 전체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52377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위험요인 신고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신고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🔵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접수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조치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조치 수정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772627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작업 중지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발동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🔵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재개 승인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이력 감사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비상 권한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58948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위험성평가 </a:t>
                      </a: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TBM 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적용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표준 </a:t>
                      </a: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DB 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 정보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8003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서류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법적 서류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상신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🔵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검토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최종승인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475700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점검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안전 점검표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점검 수행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결과 모니터링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658959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공지사항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공지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전사 공지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651595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자료실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매뉴얼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조회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자료 등록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460086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등급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기능인 등급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본인 등급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입력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기준 설정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확정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695636"/>
                  </a:ext>
                </a:extLst>
              </a:tr>
              <a:tr h="268301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KPI</a:t>
                      </a:r>
                      <a:endParaRPr 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현장 평가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❌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🟡 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우리 현장</a:t>
                      </a:r>
                      <a:r>
                        <a:rPr lang="en-US" altLang="ko-KR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800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🟢 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평가 산식 관리</a:t>
                      </a:r>
                      <a:r>
                        <a:rPr lang="en-US" altLang="ko-KR" sz="800" b="1">
                          <a:solidFill>
                            <a:srgbClr val="1F1F1F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ko-KR" altLang="en-US" sz="800" dirty="0">
                        <a:solidFill>
                          <a:srgbClr val="1F1F1F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43114" marR="43114" marT="28742" marB="28742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9372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F95BA3-38EB-678A-5151-19DABF413ECE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사용자별 예상 권한 설정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293B5-55EB-3B72-6869-E4BED6445000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13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53BDB-D590-D2C1-F0F4-2354180B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AB52222-704F-304F-62F6-D2514CF3D9C7}"/>
              </a:ext>
            </a:extLst>
          </p:cNvPr>
          <p:cNvSpPr txBox="1"/>
          <p:nvPr/>
        </p:nvSpPr>
        <p:spPr>
          <a:xfrm>
            <a:off x="8122548" y="229357"/>
            <a:ext cx="3854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Boohyun</a:t>
            </a:r>
            <a:r>
              <a:rPr lang="en-US" altLang="ko-KR" sz="12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Electric Safety Management Application</a:t>
            </a:r>
            <a:endParaRPr lang="ko-KR" altLang="en-US" sz="12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114CD-8545-A3E1-F533-DE94CD5B5843}"/>
              </a:ext>
            </a:extLst>
          </p:cNvPr>
          <p:cNvSpPr txBox="1"/>
          <p:nvPr/>
        </p:nvSpPr>
        <p:spPr>
          <a:xfrm>
            <a:off x="581025" y="367856"/>
            <a:ext cx="601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WEB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페이지 분석 관련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7663AA-6C84-DC81-CDA7-E8167C0FB3C7}"/>
              </a:ext>
            </a:extLst>
          </p:cNvPr>
          <p:cNvSpPr txBox="1"/>
          <p:nvPr/>
        </p:nvSpPr>
        <p:spPr>
          <a:xfrm>
            <a:off x="581024" y="1282256"/>
            <a:ext cx="87534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전달된 내용으로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구현하기가 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b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관리자의 메뉴가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본사와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섞여있는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부분이 존재함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.(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예산집행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매뉴얼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의견청취 등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…)</a:t>
            </a:r>
          </a:p>
          <a:p>
            <a:pPr>
              <a:buNone/>
            </a:pP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 메뉴로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구성시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관리가 불가능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의사결정이 필요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행정중심 구성이라고 생각해야 하나요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>
              <a:buNone/>
            </a:pP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잔여 메뉴 판단 불가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 </a:t>
            </a: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열려있지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않은 메뉴 구성에 대한 고객 니즈 파악이 안되네요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>
              <a:buNone/>
            </a:pP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None/>
            </a:pP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15CA7-7F30-9636-1A7A-4C8E89BE644F}"/>
              </a:ext>
            </a:extLst>
          </p:cNvPr>
          <p:cNvSpPr txBox="1"/>
          <p:nvPr/>
        </p:nvSpPr>
        <p:spPr>
          <a:xfrm>
            <a:off x="581024" y="4987672"/>
            <a:ext cx="10820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전달드린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엑셀의 설계한 대로 **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"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(Role),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(Context),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(Action)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하는가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"**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집중한 형태의 설계를 유지하는 것이 나을 것 같지만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UX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일수 있으니 확인이 필요 합니다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922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2513</Words>
  <Application>Microsoft Office PowerPoint</Application>
  <PresentationFormat>와이드스크린</PresentationFormat>
  <Paragraphs>1098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HY견고딕</vt:lpstr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정상익</dc:creator>
  <cp:lastModifiedBy>COMPACT_WORK</cp:lastModifiedBy>
  <cp:revision>7</cp:revision>
  <dcterms:created xsi:type="dcterms:W3CDTF">2025-10-26T05:16:08Z</dcterms:created>
  <dcterms:modified xsi:type="dcterms:W3CDTF">2025-12-09T17:34:50Z</dcterms:modified>
</cp:coreProperties>
</file>